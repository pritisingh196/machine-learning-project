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8" r:id="rId13"/>
    <p:sldId id="269" r:id="rId14"/>
    <p:sldId id="270" r:id="rId15"/>
    <p:sldId id="271" r:id="rId16"/>
    <p:sldId id="272" r:id="rId17"/>
    <p:sldId id="265" r:id="rId18"/>
    <p:sldId id="266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9725" y="1332230"/>
            <a:ext cx="8229600" cy="582613"/>
          </a:xfrm>
        </p:spPr>
        <p:txBody>
          <a:bodyPr/>
          <a:lstStyle/>
          <a:p>
            <a:r>
              <a:t>Customer Churn Prediction</a:t>
            </a:r>
          </a:p>
        </p:txBody>
      </p:sp>
      <p:pic>
        <p:nvPicPr>
          <p:cNvPr id="5" name="Picture 4" descr="50316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035" y="2699385"/>
            <a:ext cx="5913120" cy="394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817880"/>
            <a:ext cx="8229600" cy="582613"/>
          </a:xfrm>
        </p:spPr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655" y="1637030"/>
            <a:ext cx="8018145" cy="4490720"/>
          </a:xfrm>
        </p:spPr>
        <p:txBody>
          <a:bodyPr/>
          <a:lstStyle/>
          <a:p>
            <a:r>
              <a:t>What is Customer Churn?</a:t>
            </a:r>
          </a:p>
          <a:p>
            <a:r>
              <a:t>When a customer stops using a company’s product or service.</a:t>
            </a:r>
          </a:p>
          <a:p>
            <a:r>
              <a:t> Why is it important?</a:t>
            </a:r>
          </a:p>
          <a:p>
            <a:r>
              <a:t>Retaining customers is more cost-effective than acquiring new 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515" y="773430"/>
            <a:ext cx="8229600" cy="582613"/>
          </a:xfrm>
        </p:spPr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2645" y="1713865"/>
            <a:ext cx="7266305" cy="4423410"/>
          </a:xfrm>
        </p:spPr>
        <p:txBody>
          <a:bodyPr/>
          <a:lstStyle/>
          <a:p>
            <a:pPr marL="0" indent="0">
              <a:buNone/>
            </a:pPr>
            <a:r>
              <a:t>Businesses lose millions due to customer churn.</a:t>
            </a:r>
          </a:p>
          <a:p>
            <a:pPr marL="0" indent="0">
              <a:buNone/>
            </a:pPr>
            <a:r>
              <a:t>Need for early detection of customers likely to churn.</a:t>
            </a:r>
          </a:p>
          <a:p>
            <a:pPr marL="0" indent="0">
              <a:buNone/>
            </a:pPr>
            <a:r>
              <a:t>Goal: Build a predictive model to identify churn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0285" y="422275"/>
            <a:ext cx="8229600" cy="582613"/>
          </a:xfrm>
        </p:spPr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Dataset Used: Telco Customer Churn </a:t>
            </a:r>
          </a:p>
          <a:p>
            <a:pPr marL="0" indent="0">
              <a:buNone/>
            </a:pPr>
            <a:r>
              <a:t>Dataset</a:t>
            </a:r>
          </a:p>
          <a:p>
            <a:pPr marL="0" indent="0">
              <a:buNone/>
            </a:pPr>
            <a:r>
              <a:t>Features:</a:t>
            </a:r>
          </a:p>
          <a:p>
            <a:pPr marL="0" indent="0">
              <a:buNone/>
            </a:pPr>
            <a:r>
              <a:t>Customer ID</a:t>
            </a:r>
          </a:p>
          <a:p>
            <a:pPr marL="0" indent="0">
              <a:buNone/>
            </a:pPr>
            <a:r>
              <a:t>Demographics</a:t>
            </a:r>
          </a:p>
          <a:p>
            <a:pPr marL="0" indent="0">
              <a:buNone/>
            </a:pPr>
            <a:r>
              <a:t>Services</a:t>
            </a:r>
          </a:p>
          <a:p>
            <a:pPr marL="0" indent="0">
              <a:buNone/>
            </a:pPr>
            <a:r>
              <a:t>Billing</a:t>
            </a:r>
          </a:p>
          <a:p>
            <a:pPr marL="0" indent="0">
              <a:buNone/>
            </a:pPr>
            <a:r>
              <a:t>Target: Churn (Yes/No)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0600" y="673100"/>
            <a:ext cx="8229600" cy="582613"/>
          </a:xfrm>
        </p:spPr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120" y="1724025"/>
            <a:ext cx="7853680" cy="4403725"/>
          </a:xfrm>
        </p:spPr>
        <p:txBody>
          <a:bodyPr/>
          <a:lstStyle/>
          <a:p>
            <a:pPr marL="0" indent="0">
              <a:buNone/>
            </a:pPr>
            <a:r>
              <a:t>Handled missing values (e.g., TotalCharges)</a:t>
            </a:r>
          </a:p>
          <a:p>
            <a:pPr marL="0" indent="0">
              <a:buNone/>
            </a:pPr>
            <a:r>
              <a:t>Categorical encoding (LabelEncoder / OneHotEncoding)</a:t>
            </a:r>
          </a:p>
          <a:p>
            <a:pPr marL="0" indent="0">
              <a:buNone/>
            </a:pPr>
            <a:r>
              <a:t>Feature scaling (MinMax or StandardScaler)</a:t>
            </a:r>
          </a:p>
          <a:p>
            <a:pPr marL="0" indent="0">
              <a:buNone/>
            </a:pPr>
            <a:r>
              <a:t>Train-Test Split (80:20)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335" y="773430"/>
            <a:ext cx="8229600" cy="582613"/>
          </a:xfrm>
        </p:spPr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395" y="1617980"/>
            <a:ext cx="8193405" cy="4509770"/>
          </a:xfrm>
        </p:spPr>
        <p:txBody>
          <a:bodyPr/>
          <a:lstStyle/>
          <a:p>
            <a:pPr marL="0" indent="0">
              <a:buNone/>
            </a:pPr>
            <a:r>
              <a:t>Correlation heatmap</a:t>
            </a:r>
          </a:p>
          <a:p>
            <a:pPr marL="0" indent="0">
              <a:buNone/>
            </a:pPr>
            <a:r>
              <a:t>Churn distribution</a:t>
            </a:r>
          </a:p>
          <a:p>
            <a:pPr marL="0" indent="0">
              <a:buNone/>
            </a:pPr>
            <a:r>
              <a:t>Churn vs contract type, tenure, charges</a:t>
            </a:r>
          </a:p>
          <a:p>
            <a:pPr marL="0" indent="0">
              <a:buNone/>
            </a:pPr>
            <a:r>
              <a:t>Insights:</a:t>
            </a:r>
          </a:p>
          <a:p>
            <a:pPr marL="0" indent="0">
              <a:buNone/>
            </a:pPr>
            <a:r>
              <a:t>Month-to-month contracts show higher churn</a:t>
            </a:r>
          </a:p>
          <a:p>
            <a:pPr marL="0" indent="0">
              <a:buNone/>
            </a:pPr>
            <a:r>
              <a:t>Low tenure customers more likely to churn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5630" y="682625"/>
            <a:ext cx="8229600" cy="582613"/>
          </a:xfrm>
        </p:spPr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330" y="1569085"/>
            <a:ext cx="7824470" cy="4558665"/>
          </a:xfrm>
        </p:spPr>
        <p:txBody>
          <a:bodyPr/>
          <a:lstStyle/>
          <a:p>
            <a:pPr marL="0" indent="0">
              <a:buNone/>
            </a:pPr>
            <a:r>
              <a:t>Algorithms used:</a:t>
            </a:r>
          </a:p>
          <a:p>
            <a:pPr marL="0" indent="0">
              <a:buNone/>
            </a:pPr>
            <a:r>
              <a:t>Logistic Regression</a:t>
            </a:r>
          </a:p>
          <a:p>
            <a:pPr marL="0" indent="0">
              <a:buNone/>
            </a:pPr>
            <a:r>
              <a:t>Random Forest</a:t>
            </a:r>
          </a:p>
          <a:p>
            <a:pPr marL="0" indent="0">
              <a:buNone/>
            </a:pPr>
            <a:r>
              <a:t>XGBoost</a:t>
            </a:r>
          </a:p>
          <a:p>
            <a:pPr marL="0" indent="0">
              <a:buNone/>
            </a:pPr>
            <a:r>
              <a:t>Cross-validation and handling imbalance (SMOTE / Class Weights)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8860" y="518795"/>
            <a:ext cx="8229600" cy="582613"/>
          </a:xfrm>
        </p:spPr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1464310"/>
            <a:ext cx="7303770" cy="4471035"/>
          </a:xfrm>
        </p:spPr>
        <p:txBody>
          <a:bodyPr/>
          <a:lstStyle/>
          <a:p>
            <a:pPr marL="0" indent="0">
              <a:buNone/>
            </a:pPr>
            <a:r>
              <a:t>Metrics used:</a:t>
            </a:r>
          </a:p>
          <a:p>
            <a:pPr marL="0" indent="0">
              <a:buNone/>
            </a:pPr>
            <a:r>
              <a:t>Accuracy</a:t>
            </a:r>
          </a:p>
          <a:p>
            <a:pPr marL="0" indent="0">
              <a:buNone/>
            </a:pPr>
            <a:r>
              <a:t>Precision / Recall</a:t>
            </a:r>
          </a:p>
          <a:p>
            <a:pPr marL="0" indent="0">
              <a:buNone/>
            </a:pPr>
            <a:r>
              <a:t>F1-Score</a:t>
            </a:r>
          </a:p>
          <a:p>
            <a:pPr marL="0" indent="0">
              <a:buNone/>
            </a:pPr>
            <a:r>
              <a:t>ROC-AUC</a:t>
            </a:r>
          </a:p>
          <a:p>
            <a:pPr marL="0" indent="0">
              <a:buNone/>
            </a:pPr>
            <a:r>
              <a:t>Confusion Matrix</a:t>
            </a:r>
          </a:p>
          <a:p>
            <a:pPr marL="0" indent="0">
              <a:buNone/>
            </a:pPr>
            <a:r>
              <a:t>Best model: XGBoost (e.g., 85% accuracy)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4915" y="741045"/>
            <a:ext cx="8229600" cy="582613"/>
          </a:xfrm>
        </p:spPr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05" y="1829435"/>
            <a:ext cx="7448550" cy="3661410"/>
          </a:xfrm>
        </p:spPr>
        <p:txBody>
          <a:bodyPr/>
          <a:lstStyle/>
          <a:p>
            <a:pPr marL="0" indent="0">
              <a:buNone/>
            </a:pPr>
            <a:r>
              <a:t>Top features:</a:t>
            </a:r>
          </a:p>
          <a:p>
            <a:pPr marL="0" indent="0">
              <a:buNone/>
            </a:pPr>
            <a:r>
              <a:t>Contract Type</a:t>
            </a:r>
          </a:p>
          <a:p>
            <a:pPr marL="0" indent="0">
              <a:buNone/>
            </a:pPr>
            <a:r>
              <a:t>Tenure</a:t>
            </a:r>
          </a:p>
          <a:p>
            <a:pPr marL="0" indent="0">
              <a:buNone/>
            </a:pPr>
            <a:r>
              <a:t>Monthly Charges</a:t>
            </a:r>
          </a:p>
          <a:p>
            <a:pPr marL="0" indent="0">
              <a:buNone/>
            </a:pPr>
            <a:r>
              <a:t>Internet Service</a:t>
            </a:r>
          </a:p>
          <a:p>
            <a:pPr marL="0" indent="0">
              <a:buNone/>
            </a:pPr>
            <a:r>
              <a:t>Visualize with bar graph or SHAP values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9075" y="585470"/>
            <a:ext cx="8229600" cy="582613"/>
          </a:xfrm>
        </p:spPr>
        <p:txBody>
          <a:bodyPr/>
          <a:lstStyle/>
          <a:p>
            <a:r>
              <a:t>Churn Rate by Contract Type</a:t>
            </a:r>
          </a:p>
        </p:txBody>
      </p:sp>
      <p:pic>
        <p:nvPicPr>
          <p:cNvPr id="3" name="Picture 2" descr="churn_by_contra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35" y="1458595"/>
            <a:ext cx="6836410" cy="45580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6295" y="567055"/>
            <a:ext cx="8229600" cy="582613"/>
          </a:xfrm>
        </p:spPr>
        <p:txBody>
          <a:bodyPr/>
          <a:lstStyle/>
          <a:p>
            <a:r>
              <a:t>Feature Importance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835" y="1497330"/>
            <a:ext cx="6765290" cy="45104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9210" y="469900"/>
            <a:ext cx="8229600" cy="582613"/>
          </a:xfrm>
        </p:spPr>
        <p:txBody>
          <a:bodyPr/>
          <a:lstStyle/>
          <a:p>
            <a:r>
              <a:t>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6585" y="1371600"/>
            <a:ext cx="5483860" cy="5217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4115" y="537845"/>
            <a:ext cx="8229600" cy="582613"/>
          </a:xfrm>
        </p:spPr>
        <p:txBody>
          <a:bodyPr/>
          <a:lstStyle/>
          <a:p>
            <a:r>
              <a:t>Model Comparison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05585"/>
            <a:ext cx="6840855" cy="45612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2590" y="773430"/>
            <a:ext cx="8229600" cy="582613"/>
          </a:xfrm>
        </p:spPr>
        <p:txBody>
          <a:bodyPr/>
          <a:lstStyle/>
          <a:p>
            <a:r>
              <a:t>SHAP Value Feature Impact</a:t>
            </a:r>
          </a:p>
        </p:txBody>
      </p:sp>
      <p:pic>
        <p:nvPicPr>
          <p:cNvPr id="3" name="Picture 2" descr="shap_feature_impa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355" y="1689735"/>
            <a:ext cx="6938645" cy="46259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2850" y="692150"/>
            <a:ext cx="8229600" cy="582613"/>
          </a:xfrm>
        </p:spPr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7265" y="1740535"/>
            <a:ext cx="6976745" cy="3789045"/>
          </a:xfrm>
        </p:spPr>
        <p:txBody>
          <a:bodyPr/>
          <a:lstStyle/>
          <a:p>
            <a:pPr marL="0" indent="0">
              <a:buNone/>
            </a:pPr>
            <a:r>
              <a:t>Early churn detection → targeted retention offers</a:t>
            </a:r>
          </a:p>
          <a:p>
            <a:pPr marL="0" indent="0">
              <a:buNone/>
            </a:pPr>
            <a:r>
              <a:t>Personalized campaigns → reduced churn</a:t>
            </a:r>
          </a:p>
          <a:p>
            <a:pPr marL="0" indent="0">
              <a:buNone/>
            </a:pPr>
            <a:r>
              <a:t>Increased customer lifetime value (CLV)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14400" y="768985"/>
            <a:ext cx="8229600" cy="582930"/>
          </a:xfrm>
        </p:spPr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69720" y="1695450"/>
            <a:ext cx="7574280" cy="4432300"/>
          </a:xfrm>
        </p:spPr>
        <p:txBody>
          <a:bodyPr/>
          <a:lstStyle/>
          <a:p>
            <a:pPr marL="0" indent="0">
              <a:buNone/>
            </a:pPr>
            <a:r>
              <a:t>Conclusion:</a:t>
            </a:r>
          </a:p>
          <a:p>
            <a:pPr marL="0" indent="0">
              <a:buNone/>
            </a:pPr>
            <a:r>
              <a:t>ML can predict churn and help retain customers</a:t>
            </a:r>
          </a:p>
          <a:p>
            <a:pPr marL="0" indent="0">
              <a:buNone/>
            </a:pPr>
            <a:r>
              <a:t>Future Work:</a:t>
            </a:r>
          </a:p>
          <a:p>
            <a:pPr marL="0" indent="0">
              <a:buNone/>
            </a:pPr>
            <a:r>
              <a:t>Real-time deployment</a:t>
            </a:r>
          </a:p>
          <a:p>
            <a:pPr marL="0" indent="0">
              <a:buNone/>
            </a:pPr>
            <a:r>
              <a:t>Dashboard integration</a:t>
            </a:r>
          </a:p>
          <a:p>
            <a:pPr marL="0" indent="0">
              <a:buNone/>
            </a:pPr>
            <a:r>
              <a:t>Deep learning models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041525" y="1165860"/>
            <a:ext cx="60280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6000"/>
              <a:t>THANK YOU</a:t>
            </a:r>
            <a:r>
              <a:rPr lang="en-US"/>
              <a:t> </a:t>
            </a:r>
            <a:endParaRPr lang="en-US"/>
          </a:p>
        </p:txBody>
      </p:sp>
      <p:pic>
        <p:nvPicPr>
          <p:cNvPr id="3" name="Picture 2" descr="ChatGPT Image Jul 23, 2025, 06_21_52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420" y="2593340"/>
            <a:ext cx="3926840" cy="3926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1669</Words>
  <Application>WPS Presentation</Application>
  <PresentationFormat>On-screen Show (4:3)</PresentationFormat>
  <Paragraphs>96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Arial</vt:lpstr>
      <vt:lpstr>SimSun</vt:lpstr>
      <vt:lpstr>Wingdings</vt:lpstr>
      <vt:lpstr>Microsoft YaHei</vt:lpstr>
      <vt:lpstr>Arial Unicode MS</vt:lpstr>
      <vt:lpstr>Calibri</vt:lpstr>
      <vt:lpstr>Blue Waves</vt:lpstr>
      <vt:lpstr>Customer Churn Prediction</vt:lpstr>
      <vt:lpstr>Introduction</vt:lpstr>
      <vt:lpstr>Problem Statement</vt:lpstr>
      <vt:lpstr>Dataset Overview</vt:lpstr>
      <vt:lpstr>Data Preprocessing</vt:lpstr>
      <vt:lpstr>Exploratory Data Analysis (EDA)</vt:lpstr>
      <vt:lpstr>Model Building</vt:lpstr>
      <vt:lpstr>Model Evaluation</vt:lpstr>
      <vt:lpstr>Feature Importance</vt:lpstr>
      <vt:lpstr>Churn Rate by Contract Type</vt:lpstr>
      <vt:lpstr>Feature Importance</vt:lpstr>
      <vt:lpstr>Confusion Matrix</vt:lpstr>
      <vt:lpstr>Model Comparison</vt:lpstr>
      <vt:lpstr>SHAP Value Feature Impact</vt:lpstr>
      <vt:lpstr>Business Impact</vt:lpstr>
      <vt:lpstr>Conclusion &amp; Future Work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priti</cp:lastModifiedBy>
  <cp:revision>6</cp:revision>
  <dcterms:created xsi:type="dcterms:W3CDTF">2013-01-27T09:14:00Z</dcterms:created>
  <dcterms:modified xsi:type="dcterms:W3CDTF">2025-07-23T13:01:40Z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90104998B2D44BC3A9FE53064FEF2FEF_13</vt:lpwstr>
  </property>
  <property fmtid="{D5CDD505-2E9C-101B-9397-08002B2CF9AE}" pid="3" name="KSOProductBuildVer">
    <vt:lpwstr>1033-12.2.0.21931</vt:lpwstr>
  </property>
</Properties>
</file>